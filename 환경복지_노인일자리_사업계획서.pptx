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B2B</c:v>
                </c:pt>
                <c:pt idx="1">
                  <c:v>B2C</c:v>
                </c:pt>
                <c:pt idx="2">
                  <c:v>기업협력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고령층 인원 증가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고령층 인원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1년차</c:v>
                </c:pt>
                <c:pt idx="1">
                  <c:v>2년차</c:v>
                </c:pt>
                <c:pt idx="2">
                  <c:v>3년차</c:v>
                </c:pt>
                <c:pt idx="3">
                  <c:v>4년차</c:v>
                </c:pt>
                <c:pt idx="4">
                  <c:v>5년차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10</c:v>
                </c:pt>
                <c:pt idx="3">
                  <c:v>12</c:v>
                </c:pt>
                <c:pt idx="4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손익분기점 분석 (3년차 달성)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연간손익 (만원)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1년차</c:v>
                </c:pt>
                <c:pt idx="1">
                  <c:v>2년차</c:v>
                </c:pt>
                <c:pt idx="2">
                  <c:v>3년차</c:v>
                </c:pt>
                <c:pt idx="3">
                  <c:v>4년차</c:v>
                </c:pt>
                <c:pt idx="4">
                  <c:v>5년차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-8400</c:v>
                </c:pt>
                <c:pt idx="1">
                  <c:v>-5472</c:v>
                </c:pt>
                <c:pt idx="2">
                  <c:v>1860</c:v>
                </c:pt>
                <c:pt idx="3">
                  <c:v>2796</c:v>
                </c:pt>
                <c:pt idx="4">
                  <c:v>864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환경-복지 연결 노인일자리 창출사업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사업계획서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669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작성자: [학번] [이름]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제출처: [학교명]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작성일: 2025년 11월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회사소개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💡 비전: "환경과 복지의 선순환으로 모두에게 가치를 실현한다"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noFill/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wrap="square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경제적 자립성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재활용 수익 창출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지역 순환경제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지속가능 재정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286000"/>
            <a:ext cx="2560320" cy="2011680"/>
          </a:xfrm>
          <a:prstGeom prst="roundRect">
            <a:avLst/>
          </a:prstGeom>
          <a:noFill/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wrap="square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환경적 가치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재활용률 향상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매립·소각 감소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탄소저감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2560320" cy="2011680"/>
          </a:xfrm>
          <a:prstGeom prst="roundRect">
            <a:avLst/>
          </a:prstGeom>
          <a:noFill/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wrap="square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사회적 가치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고령층 일자리(60+)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세대간 지식 전수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취약계층 자립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창업배경 및 동기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E53935"/>
                </a:solidFill>
              </a:defRPr>
            </a:pPr>
            <a:r>
              <a:t>🚨 노인 빈곤 위기</a:t>
            </a:r>
          </a:p>
          <a:p>
            <a:pPr algn="ctr">
              <a:spcBef>
                <a:spcPts val="1200"/>
              </a:spcBef>
              <a:defRPr sz="2400" b="1">
                <a:solidFill>
                  <a:srgbClr val="2C3E50"/>
                </a:solidFill>
              </a:defRPr>
            </a:pPr>
            <a:r>
              <a:t>노인빈곤율 39.8%</a:t>
            </a:r>
          </a:p>
          <a:p>
            <a:pPr algn="ctr">
              <a:spcBef>
                <a:spcPts val="800"/>
              </a:spcBef>
              <a:defRPr sz="1400">
                <a:solidFill>
                  <a:srgbClr val="2C3E50"/>
                </a:solidFill>
              </a:defRPr>
            </a:pPr>
            <a:r>
              <a:t>OECD 최고 수준</a:t>
            </a:r>
            <a:br/>
            <a:r>
              <a:t>일자리 창출 시급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56032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F57C00"/>
                </a:solidFill>
              </a:defRPr>
            </a:pPr>
            <a:r>
              <a:t>🌍 환경 위기</a:t>
            </a:r>
          </a:p>
          <a:p>
            <a:pPr algn="ctr">
              <a:spcBef>
                <a:spcPts val="1200"/>
              </a:spcBef>
              <a:defRPr sz="2400" b="1">
                <a:solidFill>
                  <a:srgbClr val="2C3E50"/>
                </a:solidFill>
              </a:defRPr>
            </a:pPr>
            <a:r>
              <a:t>연 8,032만 톤</a:t>
            </a:r>
          </a:p>
          <a:p>
            <a:pPr algn="ctr">
              <a:spcBef>
                <a:spcPts val="800"/>
              </a:spcBef>
              <a:defRPr sz="1400">
                <a:solidFill>
                  <a:srgbClr val="2C3E50"/>
                </a:solidFill>
              </a:defRPr>
            </a:pPr>
            <a:r>
              <a:t>폐기물 증가</a:t>
            </a:r>
            <a:br/>
            <a:r>
              <a:t>재활용 인프라 부족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✅ 통합모델 필요</a:t>
            </a:r>
          </a:p>
          <a:p>
            <a:pPr algn="ctr">
              <a:spcBef>
                <a:spcPts val="1200"/>
              </a:spcBef>
              <a:defRPr sz="2400" b="1">
                <a:solidFill>
                  <a:srgbClr val="2C3E50"/>
                </a:solidFill>
              </a:defRPr>
            </a:pPr>
            <a:r>
              <a:t>정책적 지원 확대</a:t>
            </a:r>
          </a:p>
          <a:p>
            <a:pPr algn="ctr">
              <a:spcBef>
                <a:spcPts val="800"/>
              </a:spcBef>
              <a:defRPr sz="1400">
                <a:solidFill>
                  <a:srgbClr val="2C3E50"/>
                </a:solidFill>
              </a:defRPr>
            </a:pPr>
            <a:r>
              <a:t>노인일자리 + 환경기업</a:t>
            </a:r>
            <a:br/>
            <a:r>
              <a:t>사회적기업 육성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💡 환경 + 복지 통합 모델로 두 문제 동시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6217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출처: 통계청 2023, 환경부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비즈니스 모델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463040" cy="54864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수거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1760" y="1783080"/>
            <a:ext cx="22860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1463040" cy="54864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선별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480560" y="1783080"/>
            <a:ext cx="22860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1463040" cy="54864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재가공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9360" y="1783080"/>
            <a:ext cx="22860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1463040" cy="54864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판매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7432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재생 문구류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에코 생활용품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패션 소품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71500"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재생 노트·메모지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에코 화분·수납함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에코백·파우치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5,000~15,000원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10,000~30,000원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8,000~20,000원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B2C 30%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B2B 40%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defRPr sz="1400"/>
                      </a:pPr>
                      <a:r>
                        <a:t>B2C/협력 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인력운영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직급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월급(만원)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연봉(만원)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주요 역할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총괄 경영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팀장A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운영·안전관리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팀장B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재무·인사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수거·선별·판매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2,130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25,560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취약계층 70%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⚖️ 법적 준수: 4대보험 가입 | 서면 근로계약 | 무기계약 전환 | 최저임금 충족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💰 정부지원 제도</a:t>
            </a:r>
          </a:p>
          <a:p>
            <a:pPr lvl="1">
              <a:defRPr sz="1200"/>
            </a:pPr>
            <a:r>
              <a:t>• 고령자 고용지원</a:t>
            </a:r>
          </a:p>
          <a:p>
            <a:pPr lvl="1">
              <a:defRPr sz="1200"/>
            </a:pPr>
            <a:r>
              <a:t>• 사회적기업 일자리창출</a:t>
            </a:r>
          </a:p>
          <a:p>
            <a:pPr lvl="1">
              <a:defRPr sz="1200"/>
            </a:pPr>
            <a:r>
              <a:t>• 전문인력 지원</a:t>
            </a:r>
          </a:p>
          <a:p>
            <a:pPr lvl="1">
              <a:defRPr sz="1200"/>
            </a:pPr>
            <a:r>
              <a:t>• 사업개발비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온·오프라인 채널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76D2"/>
                </a:solidFill>
              </a:defRPr>
            </a:pPr>
            <a:r>
              <a:t>🌐 온라인</a:t>
            </a:r>
          </a:p>
          <a:p>
            <a:pPr>
              <a:spcBef>
                <a:spcPts val="600"/>
              </a:spcBef>
              <a:defRPr sz="1400"/>
            </a:pPr>
            <a:r>
              <a:t>• 자체몰: 1년차 하반기</a:t>
            </a:r>
          </a:p>
          <a:p>
            <a:pPr>
              <a:spcBef>
                <a:spcPts val="600"/>
              </a:spcBef>
              <a:defRPr sz="1400"/>
            </a:pPr>
            <a:r>
              <a:t>• 플랫폼: 쿠팡·마켓컬리 (2년차)</a:t>
            </a:r>
          </a:p>
          <a:p>
            <a:pPr>
              <a:spcBef>
                <a:spcPts val="600"/>
              </a:spcBef>
              <a:defRPr sz="1400"/>
            </a:pPr>
            <a:r>
              <a:t>• SNS: 인스타그램·블로그</a:t>
            </a:r>
          </a:p>
          <a:p>
            <a:pPr>
              <a:spcBef>
                <a:spcPts val="600"/>
              </a:spcBef>
              <a:defRPr sz="1400"/>
            </a:pPr>
            <a:r>
              <a:t>• 글로벌: 3년차 이후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7C00"/>
                </a:solidFill>
              </a:defRPr>
            </a:pPr>
            <a:r>
              <a:t>🏪 오프라인</a:t>
            </a:r>
          </a:p>
          <a:p>
            <a:pPr>
              <a:spcBef>
                <a:spcPts val="600"/>
              </a:spcBef>
              <a:defRPr sz="1400"/>
            </a:pPr>
            <a:r>
              <a:t>• 정기 수거: 학교·제조업체</a:t>
            </a:r>
          </a:p>
          <a:p>
            <a:pPr>
              <a:spcBef>
                <a:spcPts val="600"/>
              </a:spcBef>
              <a:defRPr sz="1400"/>
            </a:pPr>
            <a:r>
              <a:t>• 박람회: 연 2-3회</a:t>
            </a:r>
          </a:p>
          <a:p>
            <a:pPr>
              <a:spcBef>
                <a:spcPts val="600"/>
              </a:spcBef>
              <a:defRPr sz="1400"/>
            </a:pPr>
            <a:r>
              <a:t>• 체험 워크숍: 월 1회</a:t>
            </a:r>
          </a:p>
          <a:p>
            <a:pPr>
              <a:spcBef>
                <a:spcPts val="600"/>
              </a:spcBef>
              <a:defRPr sz="1400"/>
            </a:pPr>
            <a:r>
              <a:t>• 기업 ESG: 프로젝트 협력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286000" y="4114800"/>
          <a:ext cx="4572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연도별 인력 확대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연도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고령층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월인건비</a:t>
                      </a:r>
                    </a:p>
                    <a:p>
                      <a:r>
                        <a:t>(만원)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정부지원</a:t>
                      </a:r>
                    </a:p>
                    <a:p>
                      <a:r>
                        <a:t>(만원)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자부담</a:t>
                      </a:r>
                    </a:p>
                    <a:p>
                      <a:r>
                        <a:t>(만원)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월매출목표</a:t>
                      </a:r>
                    </a:p>
                    <a:p>
                      <a:r>
                        <a:t>(만원)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800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1,500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3년차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3,195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1,917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1,278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2,800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2,301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3,500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4,260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4,200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3931920"/>
          <a:ext cx="73152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시장분석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현재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5년 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글로벌 재활용 시장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79조원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5.2%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국내 재활용 시장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5.0%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고령층 경제활동인구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600만명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630만명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474720"/>
            <a:ext cx="3657600" cy="18288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E53935"/>
                </a:solidFill>
              </a:defRPr>
            </a:pPr>
            <a:r>
              <a:t>경쟁 현황</a:t>
            </a:r>
          </a:p>
          <a:p>
            <a:pPr>
              <a:spcBef>
                <a:spcPts val="800"/>
              </a:spcBef>
              <a:defRPr sz="1400"/>
            </a:pPr>
            <a:r>
              <a:t>• 재활용업체 다수 존재</a:t>
            </a:r>
          </a:p>
          <a:p>
            <a:pPr>
              <a:spcBef>
                <a:spcPts val="800"/>
              </a:spcBef>
              <a:defRPr sz="1400"/>
            </a:pPr>
            <a:r>
              <a:t>• 노인 고용 비율 낮음</a:t>
            </a:r>
          </a:p>
          <a:p>
            <a:pPr>
              <a:spcBef>
                <a:spcPts val="800"/>
              </a:spcBef>
              <a:defRPr sz="1400"/>
            </a:pPr>
            <a:r>
              <a:t>• 노인일자리기관 연계 부족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474720"/>
            <a:ext cx="36576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시장 기회</a:t>
            </a:r>
          </a:p>
          <a:p>
            <a:pPr>
              <a:spcBef>
                <a:spcPts val="800"/>
              </a:spcBef>
              <a:defRPr sz="1400"/>
            </a:pPr>
            <a:r>
              <a:t>• 환경×복지 통합 공백</a:t>
            </a:r>
          </a:p>
          <a:p>
            <a:pPr>
              <a:spcBef>
                <a:spcPts val="800"/>
              </a:spcBef>
              <a:defRPr sz="1400"/>
            </a:pPr>
            <a:r>
              <a:t>• 정책 지원 확대</a:t>
            </a:r>
          </a:p>
          <a:p>
            <a:pPr>
              <a:spcBef>
                <a:spcPts val="800"/>
              </a:spcBef>
              <a:defRPr sz="1400"/>
            </a:pPr>
            <a:r>
              <a:t>• ESG 수요 급증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943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출처: 통계청, 환경부, 산업리포트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SWOT 분석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840480" cy="2103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Strength (강점)</a:t>
            </a:r>
          </a:p>
          <a:p>
            <a:pPr>
              <a:spcBef>
                <a:spcPts val="400"/>
              </a:spcBef>
              <a:defRPr sz="1200"/>
            </a:pPr>
            <a:r>
              <a:t>✓ 정부지원 접근성 우수</a:t>
            </a:r>
          </a:p>
          <a:p>
            <a:pPr>
              <a:spcBef>
                <a:spcPts val="400"/>
              </a:spcBef>
              <a:defRPr sz="1200"/>
            </a:pPr>
            <a:r>
              <a:t>✓ 높은 사회적 가치</a:t>
            </a:r>
          </a:p>
          <a:p>
            <a:pPr>
              <a:spcBef>
                <a:spcPts val="400"/>
              </a:spcBef>
              <a:defRPr sz="1200"/>
            </a:pPr>
            <a:r>
              <a:t>✓ 경쟁 강도 낮음</a:t>
            </a:r>
          </a:p>
          <a:p>
            <a:br/>
            <a:pPr>
              <a:spcBef>
                <a:spcPts val="800"/>
              </a:spcBef>
              <a:defRPr sz="1100" i="1">
                <a:solidFill>
                  <a:srgbClr val="2C3E50"/>
                </a:solidFill>
              </a:defRPr>
            </a:pPr>
            <a:r>
              <a:t>대응전략: 정부 사업 활용, 브랜딩 강화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645920"/>
            <a:ext cx="3840480" cy="2103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600" b="1">
                <a:solidFill>
                  <a:srgbClr val="F57C00"/>
                </a:solidFill>
              </a:defRPr>
            </a:pPr>
            <a:r>
              <a:t>Weakness (약점)</a:t>
            </a:r>
          </a:p>
          <a:p>
            <a:pPr>
              <a:spcBef>
                <a:spcPts val="400"/>
              </a:spcBef>
              <a:defRPr sz="1200"/>
            </a:pPr>
            <a:r>
              <a:t>⚠ 초기투자 부담</a:t>
            </a:r>
          </a:p>
          <a:p>
            <a:pPr>
              <a:spcBef>
                <a:spcPts val="400"/>
              </a:spcBef>
              <a:defRPr sz="1200"/>
            </a:pPr>
            <a:r>
              <a:t>⚠ 사업 경험 부족</a:t>
            </a:r>
          </a:p>
          <a:p>
            <a:pPr>
              <a:spcBef>
                <a:spcPts val="400"/>
              </a:spcBef>
              <a:defRPr sz="1200"/>
            </a:pPr>
            <a:r>
              <a:t>⚠ 정책 의존도 높음</a:t>
            </a:r>
          </a:p>
          <a:p>
            <a:br/>
            <a:pPr>
              <a:spcBef>
                <a:spcPts val="800"/>
              </a:spcBef>
              <a:defRPr sz="1100" i="1">
                <a:solidFill>
                  <a:srgbClr val="2C3E50"/>
                </a:solidFill>
              </a:defRPr>
            </a:pPr>
            <a:r>
              <a:t>대응전략: 단계적 확장, 멘토링, 수익 다각화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840480" cy="21031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600" b="1">
                <a:solidFill>
                  <a:srgbClr val="1976D2"/>
                </a:solidFill>
              </a:defRPr>
            </a:pPr>
            <a:r>
              <a:t>Opportunity (기회)</a:t>
            </a:r>
          </a:p>
          <a:p>
            <a:pPr>
              <a:spcBef>
                <a:spcPts val="400"/>
              </a:spcBef>
              <a:defRPr sz="1200"/>
            </a:pPr>
            <a:r>
              <a:t>📈 노인일자리 정책 확대</a:t>
            </a:r>
          </a:p>
          <a:p>
            <a:pPr>
              <a:spcBef>
                <a:spcPts val="400"/>
              </a:spcBef>
              <a:defRPr sz="1200"/>
            </a:pPr>
            <a:r>
              <a:t>📈 환경기업 지원 증가</a:t>
            </a:r>
          </a:p>
          <a:p>
            <a:pPr>
              <a:spcBef>
                <a:spcPts val="400"/>
              </a:spcBef>
              <a:defRPr sz="1200"/>
            </a:pPr>
            <a:r>
              <a:t>📈 ESG 경영 확산</a:t>
            </a:r>
          </a:p>
          <a:p>
            <a:br/>
            <a:pPr>
              <a:spcBef>
                <a:spcPts val="800"/>
              </a:spcBef>
              <a:defRPr sz="1100" i="1">
                <a:solidFill>
                  <a:srgbClr val="2C3E50"/>
                </a:solidFill>
              </a:defRPr>
            </a:pPr>
            <a:r>
              <a:t>대응전략: 정책 모니터링, B2B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931920"/>
            <a:ext cx="3840480" cy="2103120"/>
          </a:xfrm>
          <a:prstGeom prst="roundRect">
            <a:avLst/>
          </a:prstGeom>
          <a:solidFill>
            <a:srgbClr val="ECEFF1"/>
          </a:solidFill>
          <a:ln w="254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600" b="1">
                <a:solidFill>
                  <a:srgbClr val="95A5A6"/>
                </a:solidFill>
              </a:defRPr>
            </a:pPr>
            <a:r>
              <a:t>Threat (위협)</a:t>
            </a:r>
          </a:p>
          <a:p>
            <a:pPr>
              <a:spcBef>
                <a:spcPts val="400"/>
              </a:spcBef>
              <a:defRPr sz="1200"/>
            </a:pPr>
            <a:r>
              <a:t>⚡ 정책 변화 리스크</a:t>
            </a:r>
          </a:p>
          <a:p>
            <a:pPr>
              <a:spcBef>
                <a:spcPts val="400"/>
              </a:spcBef>
              <a:defRPr sz="1200"/>
            </a:pPr>
            <a:r>
              <a:t>⚡ 대형업체 진입</a:t>
            </a:r>
          </a:p>
          <a:p>
            <a:pPr>
              <a:spcBef>
                <a:spcPts val="400"/>
              </a:spcBef>
              <a:defRPr sz="1200"/>
            </a:pPr>
            <a:r>
              <a:t>⚡ 가격 경쟁 심화</a:t>
            </a:r>
          </a:p>
          <a:p>
            <a:br/>
            <a:pPr>
              <a:spcBef>
                <a:spcPts val="800"/>
              </a:spcBef>
              <a:defRPr sz="1100" i="1">
                <a:solidFill>
                  <a:srgbClr val="2C3E50"/>
                </a:solidFill>
              </a:defRPr>
            </a:pPr>
            <a:r>
              <a:t>대응전략: 차별화, 품질 경쟁력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마케팅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286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🎯 B2B</a:t>
            </a:r>
          </a:p>
          <a:p>
            <a:pPr>
              <a:spcBef>
                <a:spcPts val="400"/>
              </a:spcBef>
              <a:defRPr sz="1200"/>
            </a:pPr>
            <a:r>
              <a:t>• 정기수거 계약</a:t>
            </a:r>
          </a:p>
          <a:p>
            <a:pPr>
              <a:spcBef>
                <a:spcPts val="400"/>
              </a:spcBef>
              <a:defRPr sz="1200"/>
            </a:pPr>
            <a:r>
              <a:t>• ESG 납품 제안</a:t>
            </a:r>
          </a:p>
          <a:p>
            <a:pPr>
              <a:spcBef>
                <a:spcPts val="400"/>
              </a:spcBef>
              <a:defRPr sz="1200"/>
            </a:pPr>
            <a:r>
              <a:t>• 비용절감 사례</a:t>
            </a:r>
          </a:p>
          <a:p>
            <a:br/>
            <a:pPr algn="ctr">
              <a:defRPr sz="1100" b="1">
                <a:solidFill>
                  <a:srgbClr val="F57C00"/>
                </a:solidFill>
              </a:defRPr>
            </a:pPr>
            <a:r>
              <a:t>💰 연 400만원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560320" cy="22860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🎯 B2C</a:t>
            </a:r>
          </a:p>
          <a:p>
            <a:pPr>
              <a:spcBef>
                <a:spcPts val="400"/>
              </a:spcBef>
              <a:defRPr sz="1200"/>
            </a:pPr>
            <a:r>
              <a:t>• 업사이클 스토리텔링</a:t>
            </a:r>
          </a:p>
          <a:p>
            <a:pPr>
              <a:spcBef>
                <a:spcPts val="400"/>
              </a:spcBef>
              <a:defRPr sz="1200"/>
            </a:pPr>
            <a:r>
              <a:t>• 사회적 가치 마케팅</a:t>
            </a:r>
          </a:p>
          <a:p>
            <a:pPr>
              <a:spcBef>
                <a:spcPts val="400"/>
              </a:spcBef>
              <a:defRPr sz="1200"/>
            </a:pPr>
            <a:r>
              <a:t>• 제품 품질 강조</a:t>
            </a:r>
          </a:p>
          <a:p>
            <a:br/>
            <a:pPr algn="ctr">
              <a:defRPr sz="1100" b="1">
                <a:solidFill>
                  <a:srgbClr val="F57C00"/>
                </a:solidFill>
              </a:defRPr>
            </a:pPr>
            <a:r>
              <a:t>💰 연 500만원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560320" cy="2286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🎯 B2G</a:t>
            </a:r>
          </a:p>
          <a:p>
            <a:pPr>
              <a:spcBef>
                <a:spcPts val="400"/>
              </a:spcBef>
              <a:defRPr sz="1200"/>
            </a:pPr>
            <a:r>
              <a:t>• 정책 연계 보고</a:t>
            </a:r>
          </a:p>
          <a:p>
            <a:pPr>
              <a:spcBef>
                <a:spcPts val="400"/>
              </a:spcBef>
              <a:defRPr sz="1200"/>
            </a:pPr>
            <a:r>
              <a:t>• 일자리 성과 지표</a:t>
            </a:r>
          </a:p>
          <a:p>
            <a:pPr>
              <a:spcBef>
                <a:spcPts val="400"/>
              </a:spcBef>
              <a:defRPr sz="1200"/>
            </a:pPr>
            <a:r>
              <a:t>• 환경 개선 효과</a:t>
            </a:r>
          </a:p>
          <a:p>
            <a:br/>
            <a:pPr algn="ctr">
              <a:defRPr sz="1100" b="1">
                <a:solidFill>
                  <a:srgbClr val="F57C00"/>
                </a:solidFill>
              </a:defRPr>
            </a:pPr>
            <a:r>
              <a:t>💰 연 300만원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114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온라인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오프라인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활동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SNS 콘텐츠 월 8회</a:t>
                      </a:r>
                    </a:p>
                    <a:p>
                      <a:r>
                        <a:t>블로그 포스팅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박람회 연 2-3회</a:t>
                      </a:r>
                    </a:p>
                    <a:p>
                      <a:r>
                        <a:t>체험 워크숍 월 1회</a:t>
                      </a:r>
                    </a:p>
                    <a:p>
                      <a:r>
                        <a:t>언론 보도 연 4회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연간 예산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500만원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연간 1,200만원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운영계획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2-3년차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4-5년차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시설 면적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800㎡+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센터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2개소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선별능력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월 12톤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월 24톤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월 40톤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017520"/>
            <a:ext cx="1097280" cy="45720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수거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74519" y="3108960"/>
            <a:ext cx="13716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57400" y="3017520"/>
            <a:ext cx="1097280" cy="45720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선별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3108960"/>
            <a:ext cx="13716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3017520"/>
            <a:ext cx="1097280" cy="45720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포장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26280" y="3108960"/>
            <a:ext cx="13716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59" y="3017520"/>
            <a:ext cx="1097280" cy="45720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저장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59" y="3108960"/>
            <a:ext cx="13716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3017520"/>
            <a:ext cx="1097280" cy="45720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판매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3108960"/>
            <a:ext cx="137160" cy="27432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3017520"/>
            <a:ext cx="1097280" cy="457200"/>
          </a:xfrm>
          <a:prstGeom prst="roundRect">
            <a:avLst/>
          </a:prstGeom>
          <a:solidFill>
            <a:srgbClr val="2ECC71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✅ 품질지표</a:t>
            </a:r>
          </a:p>
          <a:p>
            <a:pPr>
              <a:spcBef>
                <a:spcPts val="400"/>
              </a:spcBef>
              <a:defRPr sz="1200"/>
            </a:pPr>
            <a:r>
              <a:t>• 이물질 비율: ≤5%</a:t>
            </a:r>
          </a:p>
          <a:p>
            <a:pPr>
              <a:spcBef>
                <a:spcPts val="400"/>
              </a:spcBef>
              <a:defRPr sz="1200"/>
            </a:pPr>
            <a:r>
              <a:t>• 선별 오류율: ≤2%</a:t>
            </a:r>
          </a:p>
          <a:p>
            <a:pPr>
              <a:spcBef>
                <a:spcPts val="400"/>
              </a:spcBef>
              <a:defRPr sz="1200"/>
            </a:pPr>
            <a:r>
              <a:t>• 화재 안전점검: 주 1회</a:t>
            </a:r>
          </a:p>
          <a:p>
            <a:pPr>
              <a:spcBef>
                <a:spcPts val="400"/>
              </a:spcBef>
              <a:defRPr sz="1200"/>
            </a:pPr>
            <a:r>
              <a:t>• ISO 14001: 4년차 취득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0" y="3657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처리량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제품믹스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월매출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12톤/월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800만원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24톤/월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1,500만원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40톤/월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2,800만원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조직 및 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🏢 조직구조</a:t>
            </a:r>
          </a:p>
          <a:p>
            <a:pPr>
              <a:spcBef>
                <a:spcPts val="400"/>
              </a:spcBef>
              <a:defRPr sz="1200">
                <a:latin typeface="Consolas"/>
              </a:defRPr>
            </a:pPr>
            <a:r>
              <a:t>대표(센터장)</a:t>
            </a:r>
          </a:p>
          <a:p>
            <a:pPr>
              <a:spcBef>
                <a:spcPts val="400"/>
              </a:spcBef>
              <a:defRPr sz="1200">
                <a:latin typeface="Consolas"/>
              </a:defRPr>
            </a:pPr>
            <a:r>
              <a:t>  ├─ 수집팀 (수거·운송)</a:t>
            </a:r>
          </a:p>
          <a:p>
            <a:pPr>
              <a:spcBef>
                <a:spcPts val="400"/>
              </a:spcBef>
              <a:defRPr sz="1200">
                <a:latin typeface="Consolas"/>
              </a:defRPr>
            </a:pPr>
            <a:r>
              <a:t>  ├─ 선별팀 (분류·가공)</a:t>
            </a:r>
          </a:p>
          <a:p>
            <a:pPr>
              <a:spcBef>
                <a:spcPts val="400"/>
              </a:spcBef>
              <a:defRPr sz="1200">
                <a:latin typeface="Consolas"/>
              </a:defRPr>
            </a:pPr>
            <a:r>
              <a:t>  └─ 판매팀 (마케팅·영업)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645920"/>
          <a:ext cx="3657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29184">
                <a:tc gridSpan="2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💼 회계 투명성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일일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POS 자동기록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월간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내부 검증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분기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외부 모니터링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연간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외부감사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566160"/>
            <a:ext cx="22860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E (환경)</a:t>
            </a:r>
          </a:p>
          <a:p>
            <a:pPr>
              <a:spcBef>
                <a:spcPts val="200"/>
              </a:spcBef>
              <a:defRPr sz="1100"/>
            </a:pPr>
            <a:r>
              <a:t>• 재활용률</a:t>
            </a:r>
          </a:p>
          <a:p>
            <a:pPr>
              <a:spcBef>
                <a:spcPts val="200"/>
              </a:spcBef>
              <a:defRPr sz="1100"/>
            </a:pPr>
            <a:r>
              <a:t>• CO₂ 감축량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566160"/>
            <a:ext cx="22860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S (사회)</a:t>
            </a:r>
          </a:p>
          <a:p>
            <a:pPr>
              <a:spcBef>
                <a:spcPts val="200"/>
              </a:spcBef>
              <a:defRPr sz="1100"/>
            </a:pPr>
            <a:r>
              <a:t>• 취약계층 고용</a:t>
            </a:r>
          </a:p>
          <a:p>
            <a:pPr>
              <a:spcBef>
                <a:spcPts val="200"/>
              </a:spcBef>
              <a:defRPr sz="1100"/>
            </a:pPr>
            <a:r>
              <a:t>• 평균 임금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3566160"/>
            <a:ext cx="22860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G (지배구조)</a:t>
            </a:r>
          </a:p>
          <a:p>
            <a:pPr>
              <a:spcBef>
                <a:spcPts val="200"/>
              </a:spcBef>
              <a:defRPr sz="1100"/>
            </a:pPr>
            <a:r>
              <a:t>• 이사회 운영</a:t>
            </a:r>
          </a:p>
          <a:p>
            <a:pPr>
              <a:spcBef>
                <a:spcPts val="200"/>
              </a:spcBef>
              <a:defRPr sz="1100"/>
            </a:pPr>
            <a:r>
              <a:t>• 재무 공개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⚠️ 리스크 관리: 정책변동(수익 다각화) | 원재료(다수 공급처) | 품질(공정 개선) | 인력(처우 개선)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E7D32"/>
                </a:solidFill>
              </a:defRPr>
            </a:pPr>
            <a:r>
              <a:t>5년 추진계획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연차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핵심 과제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월매출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손익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센터 개소, 예비사회적기업</a:t>
                      </a:r>
                    </a:p>
                    <a:p>
                      <a:r>
                        <a:t>수거 네트워크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800만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-700만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2년차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온라인몰 오픈, 파트너십</a:t>
                      </a:r>
                    </a:p>
                    <a:p>
                      <a:r>
                        <a:t>채널 다각화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1,500만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-456만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3년차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사회적기업 인증</a:t>
                      </a:r>
                    </a:p>
                    <a:p>
                      <a:r>
                        <a:t>손익분기 달성 ⭐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2,800만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15명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+155만</a:t>
                      </a:r>
                    </a:p>
                  </a:txBody>
                  <a:tcPr>
                    <a:solidFill>
                      <a:srgbClr val="FFEB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2호점 준비, ISO 추진</a:t>
                      </a:r>
                    </a:p>
                    <a:p>
                      <a:r>
                        <a:t>제조·판매 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3,500만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+233만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5년차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2호점 운영, 지역 허브</a:t>
                      </a:r>
                    </a:p>
                    <a:p>
                      <a:r>
                        <a:t>브랜드 확립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4,200만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+72만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📊 5년 핵심 지표</a:t>
            </a:r>
          </a:p>
          <a:p>
            <a:pPr>
              <a:spcBef>
                <a:spcPts val="600"/>
              </a:spcBef>
              <a:defRPr sz="1300"/>
            </a:pPr>
            <a:r>
              <a:t>• 누적 매출: 약 39억원  • 정부 의존도: 72%→25%  • 고령층 고용: 7명→14명  • 재활용 1,200톤, CO₂ 600톤 감축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E7D32"/>
                </a:solidFill>
              </a:defRPr>
            </a:pPr>
            <a:r>
              <a:t>5개년 재무계획 및 손익분기점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2743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287382">
                <a:tc gridSpan="2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💰 초기투자</a:t>
                      </a:r>
                    </a:p>
                  </a:txBody>
                  <a:tcPr>
                    <a:solidFill>
                      <a:srgbClr val="F57C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보증금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2,000만원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임차료 선납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180만원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자동선별기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1,500만원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수거차량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2,000만원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포장·자재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500만원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운영자금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320만원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74720" y="146304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  <a:gridCol w="868680"/>
                <a:gridCol w="868680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4년차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5년차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매출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50,400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정부지원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18,408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23,004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18,396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12,780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총수입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56,604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60,396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63,180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인건비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30,672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38,340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51,120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운영비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10,848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16,404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11,196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총지출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36,408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44,976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54,744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57,600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62,316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/>
                      </a:pPr>
                      <a:r>
                        <a:t>연간손익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935"/>
                          </a:solidFill>
                        </a:defRPr>
                      </a:pPr>
                      <a:r>
                        <a:t>-8,400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53935"/>
                          </a:solidFill>
                        </a:defRPr>
                      </a:pPr>
                      <a:r>
                        <a:t>-5,472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+1,860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+2,796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+864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3657600"/>
          <a:ext cx="7315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결론 및 기대효과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840480" cy="18288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👥 사회적 효과</a:t>
            </a:r>
          </a:p>
          <a:p>
            <a:pPr>
              <a:spcBef>
                <a:spcPts val="600"/>
              </a:spcBef>
              <a:defRPr sz="1300"/>
            </a:pPr>
            <a:r>
              <a:t>• 5년 누적 120명·년 참여</a:t>
            </a:r>
          </a:p>
          <a:p>
            <a:pPr>
              <a:spcBef>
                <a:spcPts val="600"/>
              </a:spcBef>
              <a:defRPr sz="1300"/>
            </a:pPr>
            <a:r>
              <a:t>• 최저임금 이상 소득 보장</a:t>
            </a:r>
          </a:p>
          <a:p>
            <a:pPr>
              <a:spcBef>
                <a:spcPts val="600"/>
              </a:spcBef>
              <a:defRPr sz="1300"/>
            </a:pPr>
            <a:r>
              <a:t>• 지역 공동체 활성화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840480" cy="1828800"/>
          </a:xfrm>
          <a:prstGeom prst="roundRect">
            <a:avLst/>
          </a:prstGeom>
          <a:solidFill>
            <a:srgbClr val="E3F2FD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800" b="1">
                <a:solidFill>
                  <a:srgbClr val="1976D2"/>
                </a:solidFill>
              </a:defRPr>
            </a:pPr>
            <a:r>
              <a:t>🌍 환경적 효과</a:t>
            </a:r>
          </a:p>
          <a:p>
            <a:pPr>
              <a:spcBef>
                <a:spcPts val="600"/>
              </a:spcBef>
              <a:defRPr sz="1300"/>
            </a:pPr>
            <a:r>
              <a:t>• 누적 재활용 1,200톤</a:t>
            </a:r>
          </a:p>
          <a:p>
            <a:pPr>
              <a:spcBef>
                <a:spcPts val="600"/>
              </a:spcBef>
              <a:defRPr sz="1300"/>
            </a:pPr>
            <a:r>
              <a:t>• CO₂ 600톤 감축</a:t>
            </a:r>
          </a:p>
          <a:p>
            <a:pPr>
              <a:spcBef>
                <a:spcPts val="600"/>
              </a:spcBef>
              <a:defRPr sz="1300"/>
            </a:pPr>
            <a:r>
              <a:t>• 지역 재활용률 +5%p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3840480" cy="182880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800" b="1">
                <a:solidFill>
                  <a:srgbClr val="F57C00"/>
                </a:solidFill>
              </a:defRPr>
            </a:pPr>
            <a:r>
              <a:t>💰 경제적 효과</a:t>
            </a:r>
          </a:p>
          <a:p>
            <a:pPr>
              <a:spcBef>
                <a:spcPts val="600"/>
              </a:spcBef>
              <a:defRPr sz="1300"/>
            </a:pPr>
            <a:r>
              <a:t>• 고정직 20명 창출</a:t>
            </a:r>
          </a:p>
          <a:p>
            <a:pPr>
              <a:spcBef>
                <a:spcPts val="600"/>
              </a:spcBef>
              <a:defRPr sz="1300"/>
            </a:pPr>
            <a:r>
              <a:t>• 월 4,200만원 지역 소비</a:t>
            </a:r>
          </a:p>
          <a:p>
            <a:pPr>
              <a:spcBef>
                <a:spcPts val="600"/>
              </a:spcBef>
              <a:defRPr sz="1300"/>
            </a:pPr>
            <a:r>
              <a:t>• 지속가능 수익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474720"/>
            <a:ext cx="3840480" cy="1828800"/>
          </a:xfrm>
          <a:prstGeom prst="roundRect">
            <a:avLst/>
          </a:prstGeom>
          <a:solidFill>
            <a:srgbClr val="F3E5F5"/>
          </a:solidFill>
          <a:ln w="381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800" b="1">
                <a:solidFill>
                  <a:srgbClr val="7B1FA2"/>
                </a:solidFill>
              </a:defRPr>
            </a:pPr>
            <a:r>
              <a:t>🎯 정책 부합</a:t>
            </a:r>
          </a:p>
          <a:p>
            <a:pPr>
              <a:spcBef>
                <a:spcPts val="600"/>
              </a:spcBef>
              <a:defRPr sz="1300"/>
            </a:pPr>
            <a:r>
              <a:t>• SDG 8: 양질의 일자리</a:t>
            </a:r>
          </a:p>
          <a:p>
            <a:pPr>
              <a:spcBef>
                <a:spcPts val="600"/>
              </a:spcBef>
              <a:defRPr sz="1300"/>
            </a:pPr>
            <a:r>
              <a:t>• SDG 12: 책임있는 소비</a:t>
            </a:r>
          </a:p>
          <a:p>
            <a:pPr>
              <a:spcBef>
                <a:spcPts val="600"/>
              </a:spcBef>
              <a:defRPr sz="1300"/>
            </a:pPr>
            <a:r>
              <a:t>• ESG 경영 확산 기여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486400"/>
            <a:ext cx="6400800" cy="82296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2400" b="1">
                <a:solidFill>
                  <a:srgbClr val="2E7D32"/>
                </a:solidFill>
              </a:defRPr>
            </a:pPr>
            <a:r>
              <a:t>환경과 복지를 연결하여</a:t>
            </a:r>
            <a:br/>
            <a:r>
              <a:t>지속가능한 사회적 가치를 실현합니다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