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환경-복지 연결</a:t>
            </a:r>
          </a:p>
          <a:p>
            <a:r>
              <a:t>노인일자리 창출사업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사업계획서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작성자: [학번] [이름]</a:t>
            </a:r>
          </a:p>
          <a:p>
            <a:r>
              <a:t>제출처: [학교명]</a:t>
            </a:r>
          </a:p>
          <a:p>
            <a:r>
              <a:t>작성일: 2025년 11월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회사소개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50"/>
                </a:solidFill>
                <a:latin typeface="Malgun Gothic"/>
              </a:defRPr>
            </a:pPr>
            <a:r>
              <a:t>"환경과 복지의 선순환으로</a:t>
            </a:r>
          </a:p>
          <a:p>
            <a:r>
              <a:t>모두에게 가치를 실현한다"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32004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algun Gothic"/>
              </a:defRPr>
            </a:pPr>
            <a:r>
              <a:t>경제적 자립성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algun Gothic"/>
              </a:defRPr>
            </a:pPr>
            <a:r>
              <a:t>• 재활용 수익 창출</a:t>
            </a:r>
          </a:p>
          <a:p>
            <a:r>
              <a:t>• 지역 순환경제</a:t>
            </a:r>
          </a:p>
          <a:p>
            <a:r>
              <a:t>• 지속가능 재정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743200"/>
            <a:ext cx="3657600" cy="32004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algun Gothic"/>
              </a:defRPr>
            </a:pPr>
            <a:r>
              <a:t>환경적 가치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474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algun Gothic"/>
              </a:defRPr>
            </a:pPr>
            <a:r>
              <a:t>• 재활용률 향상</a:t>
            </a:r>
          </a:p>
          <a:p>
            <a:r>
              <a:t>• 매립·소각 감소</a:t>
            </a:r>
          </a:p>
          <a:p>
            <a:r>
              <a:t>• 탄소저감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43200"/>
            <a:ext cx="3657600" cy="32004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algun Gothic"/>
              </a:defRPr>
            </a:pPr>
            <a:r>
              <a:t>사회적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474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algun Gothic"/>
              </a:defRPr>
            </a:pPr>
            <a:r>
              <a:t>• 고령층 일자리(60+)</a:t>
            </a:r>
          </a:p>
          <a:p>
            <a:r>
              <a:t>• 세대간 지식 전수</a:t>
            </a:r>
          </a:p>
          <a:p>
            <a:r>
              <a:t>• 취약계층 자립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창업배경 및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Malgun Gothic"/>
              </a:defRPr>
            </a:pPr>
            <a:r>
              <a:t>노인 빈곤 위기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algun Gothic"/>
              </a:defRPr>
            </a:pPr>
            <a:r>
              <a:t>• 노인빈곤율 39.8%</a:t>
            </a:r>
          </a:p>
          <a:p>
            <a:r>
              <a:t>  (출처: 통계청 2023)</a:t>
            </a:r>
          </a:p>
          <a:p>
            <a:r>
              <a:t>• OECD 평균의 3배</a:t>
            </a:r>
          </a:p>
          <a:p>
            <a:r>
              <a:t>• 기초연금 월 34.4만원 부족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Malgun Gothic"/>
              </a:defRPr>
            </a:pPr>
            <a:r>
              <a:t>환경 위기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algun Gothic"/>
              </a:defRPr>
            </a:pPr>
            <a:r>
              <a:t>• 연 8,032만 톤 폐기물</a:t>
            </a:r>
          </a:p>
          <a:p>
            <a:r>
              <a:t>  (출처: 환경부 2023)</a:t>
            </a:r>
          </a:p>
          <a:p>
            <a:r>
              <a:t>• 재활용률 저조</a:t>
            </a:r>
          </a:p>
          <a:p>
            <a:r>
              <a:t>• 노인 고용 재활용업체</a:t>
            </a:r>
          </a:p>
          <a:p>
            <a:r>
              <a:t>  거의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algun Gothic"/>
              </a:defRPr>
            </a:pPr>
            <a:r>
              <a:t>통합모델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0116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algun Gothic"/>
              </a:defRPr>
            </a:pPr>
            <a:r>
              <a:t>• 정부 노인일자리</a:t>
            </a:r>
          </a:p>
          <a:p>
            <a:r>
              <a:t>  109.8만개 확대</a:t>
            </a:r>
          </a:p>
          <a:p>
            <a:r>
              <a:t>• 환경기업 지원</a:t>
            </a:r>
          </a:p>
          <a:p>
            <a:r>
              <a:t>  연 325억원</a:t>
            </a:r>
          </a:p>
          <a:p>
            <a:r>
              <a:t>• 사회적기업 인증 확대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943600"/>
            <a:ext cx="12801600" cy="73152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6035040"/>
            <a:ext cx="1243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  <a:latin typeface="Malgun Gothic"/>
              </a:defRPr>
            </a:pPr>
            <a:r>
              <a:t>→ 환경 + 복지 통합 모델로 두 가지 사회문제를 동시 해결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비즈니스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Malgun Gothic"/>
              </a:defRPr>
            </a:pPr>
            <a:r>
              <a:t>수거 → 선별 → 재가공 → 판매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256032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1. 수거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가정·소상공인</a:t>
            </a:r>
          </a:p>
          <a:p>
            <a:r>
              <a:t>정기계약처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286000"/>
            <a:ext cx="256032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2. 선별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자동선별기</a:t>
            </a:r>
          </a:p>
          <a:p>
            <a:r>
              <a:t>품목별 분류</a:t>
            </a:r>
          </a:p>
          <a:p>
            <a:r>
              <a:t>오류율 ≤2%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286000"/>
            <a:ext cx="256032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3. 재가공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업사이클</a:t>
            </a:r>
          </a:p>
          <a:p>
            <a:r>
              <a:t>정제</a:t>
            </a:r>
          </a:p>
          <a:p>
            <a:r>
              <a:t>품질 기준화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2286000"/>
            <a:ext cx="256032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4. 판매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9260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B2B</a:t>
            </a:r>
          </a:p>
          <a:p>
            <a:r>
              <a:t>B2C</a:t>
            </a:r>
          </a:p>
          <a:p>
            <a:r>
              <a:t>기업 ESG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828800" y="475488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활용 재료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가격대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재생 노트·메모지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5천~1만원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에코 화분·수납함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폐플라스틱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1만~2만원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에코백·파우치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폐섬유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1.5만~3만원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인력운영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직급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월급여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연봉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역할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230만원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2,760만원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조직 총괄, 대외 대표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팀장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215만원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2,580만원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현장 운영, 프로세스 개선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팀장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215만원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2,580만원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예산·회계, 정부지원금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210만원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17,640만원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현장운영 (60세 이상)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algun Gothic"/>
                        </a:defRPr>
                      </a:pPr>
                      <a:r>
                        <a:t>2,130만원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algun Gothic"/>
                        </a:defRPr>
                      </a:pPr>
                      <a:r>
                        <a:t>25,560만원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정부지원 제도</a:t>
            </a:r>
          </a:p>
          <a:p/>
          <a:p>
            <a:r>
              <a:t>① 고령자 고용지원금</a:t>
            </a:r>
          </a:p>
          <a:p>
            <a:r>
              <a:t>   60세 이상, 연 840만원, 최대 2년</a:t>
            </a:r>
          </a:p>
          <a:p/>
          <a:p>
            <a:r>
              <a:t>② 사회적기업 일자리창출</a:t>
            </a:r>
          </a:p>
          <a:p>
            <a:r>
              <a:t>   취약계층 70%, 연 13,728만원</a:t>
            </a:r>
          </a:p>
          <a:p/>
          <a:p>
            <a:r>
              <a:t>③ 전문인력 지원</a:t>
            </a:r>
          </a:p>
          <a:p>
            <a:r>
              <a:t>   팀장급 2명, 1차년 연 3,840만원</a:t>
            </a:r>
          </a:p>
          <a:p/>
          <a:p>
            <a:r>
              <a:t>④ 사업개발비</a:t>
            </a:r>
          </a:p>
          <a:p>
            <a:r>
              <a:t>   설비·장비, 연 5천만원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법적 준수사항</a:t>
            </a:r>
          </a:p>
          <a:p/>
          <a:p>
            <a:r>
              <a:t>✓ 4대보험 가입</a:t>
            </a:r>
          </a:p>
          <a:p>
            <a:r>
              <a:t>✓ 서면 근로계약</a:t>
            </a:r>
          </a:p>
          <a:p>
            <a:r>
              <a:t>✓ 무기계약 전환 기준</a:t>
            </a:r>
          </a:p>
          <a:p>
            <a:r>
              <a:t>✓ 최저임금 충족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온·오프라인 채널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algun Gothic"/>
              </a:defRPr>
            </a:pPr>
            <a:r>
              <a:t>온라인 채널</a:t>
            </a:r>
          </a:p>
          <a:p/>
          <a:p>
            <a:r>
              <a:t>• 자체 온라인몰 (1년차 하반기)</a:t>
            </a:r>
          </a:p>
          <a:p>
            <a:r>
              <a:t>• 대형 플랫폼 입점 (2년차)</a:t>
            </a:r>
          </a:p>
          <a:p>
            <a:r>
              <a:t>  - 쿠팡, 마켓컬리</a:t>
            </a:r>
          </a:p>
          <a:p>
            <a:r>
              <a:t>• SNS 마케팅</a:t>
            </a:r>
          </a:p>
          <a:p>
            <a:r>
              <a:t>  - 인스타그램, 블로그</a:t>
            </a:r>
          </a:p>
          <a:p>
            <a:r>
              <a:t>• 글로벌 진출 (3년차+)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algun Gothic"/>
              </a:defRPr>
            </a:pPr>
            <a:r>
              <a:t>오프라인 채널</a:t>
            </a:r>
          </a:p>
          <a:p/>
          <a:p>
            <a:r>
              <a:t>• 정기 수거</a:t>
            </a:r>
          </a:p>
          <a:p>
            <a:r>
              <a:t>  - 학교, 제조업체</a:t>
            </a:r>
          </a:p>
          <a:p>
            <a:r>
              <a:t>• 박람회 참가 (연 2-3회)</a:t>
            </a:r>
          </a:p>
          <a:p>
            <a:r>
              <a:t>  - 환경박람회</a:t>
            </a:r>
          </a:p>
          <a:p>
            <a:r>
              <a:t>  - 사회적기업 박람회</a:t>
            </a:r>
          </a:p>
          <a:p>
            <a:r>
              <a:t>• 체험 워크숍 (월 1회)</a:t>
            </a:r>
          </a:p>
          <a:p>
            <a:r>
              <a:t>  - 업사이클 체험</a:t>
            </a:r>
          </a:p>
          <a:p>
            <a:r>
              <a:t>• 기업 ESG 프로젝트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475488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B2B (기업 대상)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B2C (개인 소비자)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기업협력 (ESG)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연도별 인력 확대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371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28"/>
                <a:gridCol w="1959428"/>
                <a:gridCol w="1959428"/>
                <a:gridCol w="1959428"/>
                <a:gridCol w="1959428"/>
                <a:gridCol w="1959428"/>
                <a:gridCol w="1959432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인원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고령층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월인건비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정부지원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자부담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월매출목표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7명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2,130만원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1,534만원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596만원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800만원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9명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2,556만원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1,792만원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764만원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1,500만원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3년차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15명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3,195만원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1,917만원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1,278만원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2,800만원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4년차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3,834만원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1,533만원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2,301만원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3,500만원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5년차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14명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4,260만원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1,065만원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3,195만원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4,200만원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14400" y="4114800"/>
            <a:ext cx="3931920" cy="201168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algun Gothic"/>
              </a:defRPr>
            </a:pPr>
            <a:r>
              <a:t>【1단계】 기반 구축기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• 10명 → 12명 점진적 확대</a:t>
            </a:r>
          </a:p>
          <a:p>
            <a:r>
              <a:t>• 재활용 중심 안정화</a:t>
            </a:r>
          </a:p>
          <a:p>
            <a:r>
              <a:t>• 정부 지원 70%</a:t>
            </a:r>
          </a:p>
          <a:p>
            <a:r>
              <a:t>→ 운영 노하우 축적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4114800"/>
            <a:ext cx="3931920" cy="201168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algun Gothic"/>
              </a:defRPr>
            </a:pPr>
            <a:r>
              <a:t>【2단계】 전환기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475488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• 15명 확대 (업사이클)</a:t>
            </a:r>
          </a:p>
          <a:p>
            <a:r>
              <a:t>• 고마진 제품 본격 출시</a:t>
            </a:r>
          </a:p>
          <a:p>
            <a:r>
              <a:t>• 정부 지원 60%</a:t>
            </a:r>
          </a:p>
          <a:p>
            <a:r>
              <a:t>→ 손익분기점 달성 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4114800"/>
            <a:ext cx="3931920" cy="201168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algun Gothic"/>
              </a:defRPr>
            </a:pPr>
            <a:r>
              <a:t>【3단계】 성장기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475488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• 18명 → 20명 (2호점)</a:t>
            </a:r>
          </a:p>
          <a:p>
            <a:r>
              <a:t>• 정부 지원 40% → 25%</a:t>
            </a:r>
          </a:p>
          <a:p>
            <a:r>
              <a:t>• 다양한 판로 확보</a:t>
            </a:r>
          </a:p>
          <a:p>
            <a:r>
              <a:t>→ 자립 경영 기반 확립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시장분석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37160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현황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5년후 전망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성장률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글로벌 재활용시장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79조원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100조원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CAGR 5.2%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국내 재활용시장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11조원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14조원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CAGR 5%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노인 경제활동인구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600만명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630만명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약 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14400" y="3657600"/>
            <a:ext cx="6400800" cy="2286000"/>
          </a:xfrm>
          <a:prstGeom prst="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algun Gothic"/>
              </a:defRPr>
            </a:pPr>
            <a:r>
              <a:t>경쟁 환경</a:t>
            </a:r>
          </a:p>
          <a:p/>
          <a:p>
            <a:r>
              <a:t>• 기존 재활용업체 200개+</a:t>
            </a:r>
          </a:p>
          <a:p>
            <a:r>
              <a:t>  (노인 고용 거의 없음)</a:t>
            </a:r>
          </a:p>
          <a:p/>
          <a:p>
            <a:r>
              <a:t>• 노인일자리 제공기관 1,000개+</a:t>
            </a:r>
          </a:p>
          <a:p>
            <a:r>
              <a:t>  (환경사업 연계 거의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3657600"/>
            <a:ext cx="6400800" cy="22860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384048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algun Gothic"/>
              </a:defRPr>
            </a:pPr>
            <a:r>
              <a:t>우리의 기회</a:t>
            </a:r>
          </a:p>
          <a:p/>
          <a:p>
            <a:r>
              <a:t>• 환경×복지 통합모델 시장 공백</a:t>
            </a:r>
          </a:p>
          <a:p/>
          <a:p>
            <a:r>
              <a:t>• 정부 정책 지원 강화</a:t>
            </a:r>
          </a:p>
          <a:p/>
          <a:p>
            <a:r>
              <a:t>• ESG 기업 협력 수요 증가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SWOT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943600" cy="22860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Strength (강점)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정부 지원금 접근성 높음</a:t>
            </a:r>
          </a:p>
          <a:p>
            <a:r>
              <a:t>• 사회적 가치 우수</a:t>
            </a:r>
          </a:p>
          <a:p>
            <a:r>
              <a:t>• 통합모델로 경쟁 낮음</a:t>
            </a:r>
          </a:p>
          <a:p/>
          <a:p>
            <a:r>
              <a:t>대응전략:</a:t>
            </a:r>
          </a:p>
          <a:p>
            <a:r>
              <a:t>정부 지원 최대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5943600" cy="2286000"/>
          </a:xfrm>
          <a:prstGeom prst="rect">
            <a:avLst/>
          </a:prstGeom>
          <a:noFill/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algun Gothic"/>
              </a:defRPr>
            </a:pPr>
            <a:r>
              <a:t>Weakness (약점)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초기 투자 6,500만원 필요</a:t>
            </a:r>
          </a:p>
          <a:p>
            <a:r>
              <a:t>• 사업 경험 부족</a:t>
            </a:r>
          </a:p>
          <a:p>
            <a:r>
              <a:t>• 정부 지원 필수</a:t>
            </a:r>
          </a:p>
          <a:p/>
          <a:p>
            <a:r>
              <a:t>대응전략:</a:t>
            </a:r>
          </a:p>
          <a:p>
            <a:r>
              <a:t>단계적 투자 + 멘토링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5943600" cy="2286000"/>
          </a:xfrm>
          <a:prstGeom prst="rect">
            <a:avLst/>
          </a:prstGeom>
          <a:noFill/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Malgun Gothic"/>
              </a:defRPr>
            </a:pPr>
            <a:r>
              <a:t>Opportunity (기회)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노인일자리 정책 확대</a:t>
            </a:r>
          </a:p>
          <a:p>
            <a:r>
              <a:t>• 환경기업 지원 확대</a:t>
            </a:r>
          </a:p>
          <a:p>
            <a:r>
              <a:t>• ESG 수요 증가</a:t>
            </a:r>
          </a:p>
          <a:p/>
          <a:p>
            <a:r>
              <a:t>대응전략:</a:t>
            </a:r>
          </a:p>
          <a:p>
            <a:r>
              <a:t>정책 연계 강화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114800"/>
            <a:ext cx="5943600" cy="2286000"/>
          </a:xfrm>
          <a:prstGeom prst="rect">
            <a:avLst/>
          </a:prstGeom>
          <a:noFill/>
          <a:ln w="25400"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5A5A6"/>
                </a:solidFill>
                <a:latin typeface="Malgun Gothic"/>
              </a:defRPr>
            </a:pPr>
            <a:r>
              <a:t>Threat (위협)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6344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정책 변화 리스크</a:t>
            </a:r>
          </a:p>
          <a:p>
            <a:r>
              <a:t>• 대형업체 진입 가능</a:t>
            </a:r>
          </a:p>
          <a:p>
            <a:r>
              <a:t>• 가격 경쟁 심화</a:t>
            </a:r>
          </a:p>
          <a:p/>
          <a:p>
            <a:r>
              <a:t>대응전략:</a:t>
            </a:r>
          </a:p>
          <a:p>
            <a:r>
              <a:t>다채널 운영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마케팅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3931920" cy="22860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[B2B 기업]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폐기물 처리 비용 절감</a:t>
            </a:r>
          </a:p>
          <a:p>
            <a:r>
              <a:t>• ESG 경영 목표 달성 지원</a:t>
            </a:r>
          </a:p>
          <a:p>
            <a:r>
              <a:t>• 정기 수거 계약</a:t>
            </a:r>
          </a:p>
          <a:p>
            <a:r>
              <a:t>• 업사이클 제품 B2B 공급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371600"/>
            <a:ext cx="3931920" cy="22860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[B2C 소비자]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친환경 제품 구매 욕구</a:t>
            </a:r>
          </a:p>
          <a:p>
            <a:r>
              <a:t>• 사회적 가치 소비 참여</a:t>
            </a:r>
          </a:p>
          <a:p>
            <a:r>
              <a:t>• 노인 일자리 기여 인식</a:t>
            </a:r>
          </a:p>
          <a:p>
            <a:r>
              <a:t>• 합리적 가격의 업사이클 제품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1371600"/>
            <a:ext cx="3931920" cy="22860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0" y="1554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[B2G 정부]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01168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노인 고용 확대 정책 부합</a:t>
            </a:r>
          </a:p>
          <a:p>
            <a:r>
              <a:t>• 환경 정책 목표 달성 기여</a:t>
            </a:r>
          </a:p>
          <a:p>
            <a:r>
              <a:t>• 사회적기업 육성 정책 연계</a:t>
            </a:r>
          </a:p>
          <a:p>
            <a:r>
              <a:t>• 지역경제 활성화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2801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algun Gothic"/>
              </a:defRPr>
            </a:pPr>
            <a:r>
              <a:t>홍보 전략 및 예산</a:t>
            </a:r>
          </a:p>
          <a:p/>
          <a:p>
            <a:r>
              <a:t>온라인 마케팅                     오프라인 마케팅</a:t>
            </a:r>
          </a:p>
          <a:p>
            <a:r>
              <a:t>• SNS 운영 (주 3회)              • 전시회 참가 (연 2-3회)</a:t>
            </a:r>
          </a:p>
          <a:p>
            <a:r>
              <a:t>• 온라인 광고                     • 체험 프로그램 (월 1회)</a:t>
            </a:r>
          </a:p>
          <a:p>
            <a:r>
              <a:t>• 이메일 뉴스레터               • 언론 홍보 (연 4회)</a:t>
            </a:r>
          </a:p>
          <a:p/>
          <a:p>
            <a:r>
              <a:t>연간 마케팅 예산: 1,200만원</a:t>
            </a:r>
          </a:p>
          <a:p>
            <a:r>
              <a:t>(온라인 50% | 오프라인 33% | 콘텐츠 17%)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운영계획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371600"/>
          <a:ext cx="914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42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1년차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2-3년차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4-5년차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부지 규모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300㎡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500㎡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800㎡+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수거센터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1개소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2개소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선별 능력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월 12톤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월 24톤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algun Gothic"/>
                        </a:defRPr>
                      </a:pPr>
                      <a:r>
                        <a:t>월 40톤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2004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algun Gothic"/>
              </a:defRPr>
            </a:pPr>
            <a:r>
              <a:t>수거 → 선별 → 포장 → 저장 → 판매 → 정산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411480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기준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점검주기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수거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이물질 ≤5%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일일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선별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분류 오류율 ≤2%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일일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화재 위험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주 1회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ISO 14001 인증 취득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3년차 심사, 4년차 취득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조직 및 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조직 구조</a:t>
            </a:r>
          </a:p>
          <a:p/>
          <a:p>
            <a:r>
              <a:t>대표(센터장)</a:t>
            </a:r>
          </a:p>
          <a:p>
            <a:r>
              <a:t> ├─ 수집팀 (팀원 3명)</a:t>
            </a:r>
          </a:p>
          <a:p>
            <a:r>
              <a:t> │   재활용품 수거·분류</a:t>
            </a:r>
          </a:p>
          <a:p>
            <a:r>
              <a:t> ├─ 선별팀 (팀원 2명)</a:t>
            </a:r>
          </a:p>
          <a:p>
            <a:r>
              <a:t> │   품질 관리·재가공</a:t>
            </a:r>
          </a:p>
          <a:p>
            <a:r>
              <a:t> └─ 판매팀 (팀원 2명)</a:t>
            </a:r>
          </a:p>
          <a:p>
            <a:r>
              <a:t>     온·오프라인 판매, 고객관리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57200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291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관리 방법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일일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POS 시스템 자동 기록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월 1회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센터장 내부 검증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분기별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외부 모니터링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연 1회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전체 외부감사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0" y="1371600"/>
            <a:ext cx="6858000" cy="13716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4630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algun Gothic"/>
              </a:defRPr>
            </a:pPr>
            <a:r>
              <a:t>E (환경)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• 환경영향평가위원회</a:t>
            </a:r>
          </a:p>
          <a:p>
            <a:r>
              <a:t>• 분기별 재활용률 점검</a:t>
            </a:r>
          </a:p>
          <a:p>
            <a:r>
              <a:t>• 탄소감축 목표 모니터링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017520"/>
            <a:ext cx="6858000" cy="13716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31089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algun Gothic"/>
              </a:defRPr>
            </a:pPr>
            <a:r>
              <a:t>S (사회)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47472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• 사회가치평가위원회</a:t>
            </a:r>
          </a:p>
          <a:p>
            <a:r>
              <a:t>• 고용 다양성 지표 관리</a:t>
            </a:r>
          </a:p>
          <a:p>
            <a:r>
              <a:t>• 지역사회 기여도 평가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4663440"/>
            <a:ext cx="6858000" cy="13716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475487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algun Gothic"/>
              </a:defRPr>
            </a:pPr>
            <a:r>
              <a:t>G (지배구조)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12064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• 이해관계자 참여 이사회</a:t>
            </a:r>
          </a:p>
          <a:p>
            <a:r>
              <a:t>• 재무정보 공개 (연 1회)</a:t>
            </a:r>
          </a:p>
          <a:p>
            <a:r>
              <a:t>• 사회적 감사 실시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5년 추진계획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3716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연도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과제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월매출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인력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손익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센터 개소</a:t>
                      </a:r>
                    </a:p>
                    <a:p>
                      <a:r>
                        <a:t>예비사회적기업 지정</a:t>
                      </a:r>
                    </a:p>
                    <a:p>
                      <a:r>
                        <a:t>수거 네트워크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800만원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-700만원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온라인몰 오픈</a:t>
                      </a:r>
                    </a:p>
                    <a:p>
                      <a:r>
                        <a:t>파트너십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1,500만원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12명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-456만원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3년차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사회적기업 인증 ✅</a:t>
                      </a:r>
                    </a:p>
                    <a:p>
                      <a:r>
                        <a:t>업사이클 본격화</a:t>
                      </a:r>
                    </a:p>
                    <a:p>
                      <a:r>
                        <a:t>손익분기점 달성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2,800만원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15명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+155만원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4년차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2호점 준비</a:t>
                      </a:r>
                    </a:p>
                    <a:p>
                      <a:r>
                        <a:t>ISO 14001 추진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3,500만원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18명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+233만원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5년차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2호점 운영</a:t>
                      </a:r>
                    </a:p>
                    <a:p>
                      <a:r>
                        <a:t>지역 허브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4,200만원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20명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algun Gothic"/>
                        </a:defRPr>
                      </a:pPr>
                      <a:r>
                        <a:t>+72만원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핵심 지표 (5년 누적)</a:t>
            </a:r>
          </a:p>
          <a:p/>
          <a:p>
            <a:r>
              <a:t>💰 경제: 누적 매출 약 39억원 | 정부 의존 72%→25%</a:t>
            </a:r>
          </a:p>
          <a:p>
            <a:r>
              <a:t>👥 사회: 고용 10→20명 | 고령층 7→14명 | 취약계층 비율 70% 유지</a:t>
            </a:r>
          </a:p>
          <a:p>
            <a:r>
              <a:t>🌱 환경: 누적 재활용 1,200톤 | CO₂ 감축 600톤 | 업사이클 제품 20종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5개년 재무계획 및 손익분기점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2657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부동산 보증금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2,000만원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사무실·창고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임차료 선납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180만원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3개월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자동선별기(중고)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1,500만원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사업개발비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수거차량(중고)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2,000만원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사업개발비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포장재·자재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500만원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900" b="1">
                          <a:latin typeface="Malgun Gothic"/>
                        </a:defRPr>
                      </a:pPr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Malgun Gothic"/>
                        </a:defRPr>
                      </a:pPr>
                      <a:r>
                        <a:t>6,500만원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0" y="1371600"/>
          <a:ext cx="9326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  <a:gridCol w="1554480"/>
              </a:tblGrid>
              <a:tr h="37407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구분(만원)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1년차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3년차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4년차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5년차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매출액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33,600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42,000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50,400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정부지원금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18,408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21,504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23,004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18,396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12,780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총수입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28,008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39,504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56,604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60,396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63,180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인건비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25,560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30,672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38,340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46,008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51,120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운영비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10,848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14,304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16,404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11,592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11,196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총지출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36,408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44,976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54,744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57,600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62,316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연간 손익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-8,400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-5,472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C71"/>
                          </a:solidFill>
                          <a:latin typeface="Malgun Gothic"/>
                        </a:defRPr>
                      </a:pPr>
                      <a:r>
                        <a:t>+1,860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C71"/>
                          </a:solidFill>
                          <a:latin typeface="Malgun Gothic"/>
                        </a:defRPr>
                      </a:pPr>
                      <a:r>
                        <a:t>+2,796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ECC71"/>
                          </a:solidFill>
                          <a:latin typeface="Malgun Gothic"/>
                        </a:defRPr>
                      </a:pPr>
                      <a:r>
                        <a:t>+864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누적 손익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-8,400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-13,872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-12,012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-9,216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Malgun Gothic"/>
                        </a:defRPr>
                      </a:pPr>
                      <a:r>
                        <a:t>-8,352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1148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algun Gothic"/>
              </a:defRPr>
            </a:pPr>
            <a:r>
              <a:t>재정 전략 및 지속가능성</a:t>
            </a:r>
          </a:p>
          <a:p/>
          <a:p>
            <a:r>
              <a:t>【1-2년차】 기반 구축기</a:t>
            </a:r>
          </a:p>
          <a:p>
            <a:r>
              <a:t>정부 지원 70% 의존 | 연평균 적자 7천만원</a:t>
            </a:r>
          </a:p>
          <a:p/>
          <a:p>
            <a:r>
              <a:t>【3년차】 전환기</a:t>
            </a:r>
          </a:p>
          <a:p>
            <a:r>
              <a:t>업사이클 본격화 | 손익분기점 달성 🎯</a:t>
            </a:r>
          </a:p>
          <a:p/>
          <a:p>
            <a:r>
              <a:t>【4-5년차】 성장기</a:t>
            </a:r>
          </a:p>
          <a:p>
            <a:r>
              <a:t>정부 지원 25% 감소 | 연평균 흑자 1,800만원</a:t>
            </a:r>
          </a:p>
          <a:p/>
          <a:p>
            <a:r>
              <a:t>【6년차 이후】 완전 자립 경영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  <a:latin typeface="Malgun Gothic"/>
              </a:defRPr>
            </a:pPr>
            <a:r>
              <a:t>결론 및 기대효과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94360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사회적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5년 누적 120명·년 참여</a:t>
            </a:r>
          </a:p>
          <a:p>
            <a:r>
              <a:t>• 최저임금 이상 소득 보장</a:t>
            </a:r>
          </a:p>
          <a:p>
            <a:r>
              <a:t>• 세대통합 및 공동체 활성화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594360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환경적 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누적 재활용 1,200톤</a:t>
            </a:r>
          </a:p>
          <a:p>
            <a:r>
              <a:t>• CO₂ 감축 600톤</a:t>
            </a:r>
          </a:p>
          <a:p>
            <a:r>
              <a:t>• 지역 재활용률 +5%p 기여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594360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경제적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고정직 20명 + 다수 간접 고용</a:t>
            </a:r>
          </a:p>
          <a:p>
            <a:r>
              <a:t>• 월 4,200만원 지역 소비</a:t>
            </a:r>
          </a:p>
          <a:p>
            <a:r>
              <a:t>• 지속가능한 수익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657600"/>
            <a:ext cx="5943600" cy="1828800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algun Gothic"/>
              </a:defRPr>
            </a:pPr>
            <a:r>
              <a:t>정책 부합성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206240"/>
            <a:ext cx="5577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• 노인일자리 정책 기여</a:t>
            </a:r>
          </a:p>
          <a:p>
            <a:r>
              <a:t>• 환경부 ESG 정책 부합</a:t>
            </a:r>
          </a:p>
          <a:p>
            <a:r>
              <a:t>• UN SDG 목표 부합</a:t>
            </a:r>
          </a:p>
          <a:p>
            <a:r>
              <a:t>  (SDG 8, SDG 12)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943600"/>
            <a:ext cx="10972800" cy="109728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0350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  <a:latin typeface="Malgun Gothic"/>
              </a:defRPr>
            </a:pPr>
            <a:r>
              <a:t>"환경과 복지를 연결하여</a:t>
            </a:r>
          </a:p>
          <a:p>
            <a:r>
              <a:t>지속가능한 사회적 가치를 실현합니다"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